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goal: students should leave able to explain concepts and change a small app, not memorise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predictions before revealing the event-listener-to-DOM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JavaScript, DOM, and JSON are different categories: language, browser interface, and data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 is not the HTML source itself; it is the browser-created object representation of the parsed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JSON is text. In JSON, keys and strings use double quotes; functions and undefined are not valid JSON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stringify converts a JS value to JSON text; parse converts JSON text into JS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is the interface, JSON is a common payload format. Not all APIs return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ask learners to identify selection, object creation, DOM mutation, and empty-input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Time-box to four minutes. Reward reasoning and debugging, not just finishing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-731520"/>
            <a:ext cx="4297680" cy="429768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182880"/>
            <a:ext cx="3017520" cy="30175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822960"/>
            <a:ext cx="1737360" cy="17373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300" b="1">
                <a:solidFill>
                  <a:srgbClr val="67E8F9"/>
                </a:solidFill>
                <a:latin typeface="Aptos"/>
              </a:defRPr>
            </a:pPr>
            <a:r>
              <a:t>DAY 2 / WEB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498079" cy="2286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3800" b="1">
                <a:solidFill>
                  <a:srgbClr val="F1F5F9"/>
                </a:solidFill>
                <a:latin typeface="Aptos"/>
              </a:defRPr>
            </a:pPr>
            <a:r>
              <a:t>JavaScript.</a:t>
            </a:r>
            <a:br/>
            <a:r>
              <a:t>DOM.</a:t>
            </a:r>
            <a:br/>
            <a:r>
              <a:t>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069080"/>
            <a:ext cx="6949440" cy="777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0">
                <a:solidFill>
                  <a:srgbClr val="BAC7D8"/>
                </a:solidFill>
                <a:latin typeface="Aptos"/>
              </a:defRPr>
            </a:pPr>
            <a:r>
              <a:t>Make the page respond. Change what users see. Move data around.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52160"/>
            <a:ext cx="8412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ptos"/>
              </a:defRPr>
            </a:pPr>
            <a:r>
              <a:t>A hands-on guide for curious builders — not a lecture to sit through.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A website is a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8346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67E8F9"/>
                </a:solidFill>
                <a:latin typeface="Aptos"/>
              </a:defRPr>
            </a:pPr>
            <a:r>
              <a:t>A user clicks.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08760"/>
            <a:ext cx="3291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F472B6"/>
                </a:solidFill>
                <a:latin typeface="Aptos"/>
              </a:defRPr>
            </a:pPr>
            <a:r>
              <a:t>JavaScript reacts.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08760"/>
            <a:ext cx="29260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500" b="1">
                <a:solidFill>
                  <a:srgbClr val="6EE7B7"/>
                </a:solidFill>
                <a:latin typeface="Aptos"/>
              </a:defRPr>
            </a:pPr>
            <a:r>
              <a:t>The page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4572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3000" b="1">
                <a:solidFill>
                  <a:srgbClr val="FDE04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417320"/>
            <a:ext cx="4572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3000" b="1">
                <a:solidFill>
                  <a:srgbClr val="FDE04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514600"/>
            <a:ext cx="9875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3657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DE047"/>
                </a:solidFill>
                <a:latin typeface="Aptos"/>
              </a:defRPr>
            </a:pPr>
            <a:r>
              <a:t>PREDICT BEFORE YOU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46120"/>
            <a:ext cx="89611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Aptos"/>
              </a:defRPr>
            </a:pPr>
            <a:r>
              <a:t>If a button changes a heading, what must happen in the code?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69080"/>
            <a:ext cx="87782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0">
                <a:solidFill>
                  <a:srgbClr val="BAC7D8"/>
                </a:solidFill>
                <a:latin typeface="Aptos"/>
              </a:defRPr>
            </a:pPr>
            <a:r>
              <a:t>Turn to a partner. Explain your guess in one sentence.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67E8F9"/>
                </a:solidFill>
                <a:latin typeface="Aptos"/>
              </a:defRPr>
            </a:pPr>
            <a:r>
              <a:t>Facilitator reveal: an event listener runs JavaScript, which updates the 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Three tools, three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4612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246120" cy="9144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788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1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788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Logic + behaviour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BAC7D8"/>
                </a:solidFill>
                <a:latin typeface="Aptos"/>
              </a:defRPr>
            </a:pPr>
            <a:r>
              <a:t>What happens when a user acts?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24612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24612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65960"/>
            <a:ext cx="2788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100" b="1">
                <a:solidFill>
                  <a:srgbClr val="F472B6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2788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Page 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3756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BAC7D8"/>
                </a:solidFill>
                <a:latin typeface="Aptos"/>
              </a:defRPr>
            </a:pPr>
            <a:r>
              <a:t>Which elements can JS read or change?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54480"/>
            <a:ext cx="324612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54480"/>
            <a:ext cx="3246120" cy="91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2788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100" b="1">
                <a:solidFill>
                  <a:srgbClr val="6EE7B7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651760"/>
            <a:ext cx="2788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Data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337560"/>
            <a:ext cx="278892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0">
                <a:solidFill>
                  <a:srgbClr val="BAC7D8"/>
                </a:solidFill>
                <a:latin typeface="Aptos"/>
              </a:defRPr>
            </a:pPr>
            <a:r>
              <a:t>How can structured data be represented?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10149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800" b="1">
                <a:solidFill>
                  <a:srgbClr val="FDE047"/>
                </a:solidFill>
                <a:latin typeface="Aptos"/>
              </a:defRPr>
            </a:pPr>
            <a:r>
              <a:t>They are not alternatives. They solve different parts of the same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JavaScript: give data a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669280" cy="4160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90472"/>
            <a:ext cx="537667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83080"/>
            <a:ext cx="5376672" cy="3703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const taskTitle = "Learn the DOM";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let completed = false;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completed = true;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console.log(taskTitle);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console.log(completed);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4114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READ IT LIKE A 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389120" cy="292608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const: don't reassign this variable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let: reassignment is allowed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"Learn the DOM": a string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false / true: booleans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console.log(): inspect a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ptos"/>
              </a:defRPr>
            </a:pPr>
            <a:r>
              <a:t>PAIR PROMPT: Change the task title and predict the output before running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Behaviour = decisions + reusable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7150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44752"/>
            <a:ext cx="542239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5422392" cy="3840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function statusMessage(done) {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  if (done) {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    return "Mission complete";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  return "Still in progress";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console.log(statusMessage(false));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32004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THREE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4389120" cy="274320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Function: reusable instructions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Parameter: input to the function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Condition: choose a path based on a value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Event listener: run code when something happens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806440"/>
            <a:ext cx="98755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FDE047"/>
                </a:solidFill>
                <a:latin typeface="Aptos"/>
              </a:defRPr>
            </a:pPr>
            <a:r>
              <a:t>ASK: What changes if we pass true instead of false?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DOM: the browser's page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900" b="0">
                <a:solidFill>
                  <a:srgbClr val="BAC7D8"/>
                </a:solidFill>
                <a:latin typeface="Aptos"/>
              </a:defRPr>
            </a:pPr>
            <a:r>
              <a:t>HTML is the source markup. The browser parses it and creates a tree of objects — the DOM.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292608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84831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1F5F9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926080"/>
            <a:ext cx="2926080" cy="5029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999232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1F5F9"/>
                </a:solidFill>
                <a:latin typeface="Aptos"/>
              </a:defRPr>
            </a:pPr>
            <a:r>
              <a:t>html / body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514600"/>
            <a:ext cx="0" cy="411480"/>
          </a:xfrm>
          <a:prstGeom prst="line">
            <a:avLst/>
          </a:prstGeom>
          <a:ln w="19050">
            <a:solidFill>
              <a:srgbClr val="BAC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931920" y="3429000"/>
            <a:ext cx="2103120" cy="457200"/>
          </a:xfrm>
          <a:prstGeom prst="line">
            <a:avLst/>
          </a:prstGeom>
          <a:ln w="19050">
            <a:solidFill>
              <a:srgbClr val="BAC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3429000"/>
            <a:ext cx="2103120" cy="457200"/>
          </a:xfrm>
          <a:prstGeom prst="line">
            <a:avLst/>
          </a:prstGeom>
          <a:ln w="19050">
            <a:solidFill>
              <a:srgbClr val="BAC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3886200"/>
            <a:ext cx="292608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959352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67E8F9"/>
                </a:solidFill>
                <a:latin typeface="Aptos"/>
              </a:defRPr>
            </a:pPr>
            <a:r>
              <a:t>h1 → "Hello"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886200"/>
            <a:ext cx="292608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59352"/>
            <a:ext cx="29260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600" b="1">
                <a:solidFill>
                  <a:srgbClr val="F472B6"/>
                </a:solidFill>
                <a:latin typeface="Aptos"/>
              </a:defRPr>
            </a:pPr>
            <a:r>
              <a:t>button → "Click"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6EE7B7"/>
                </a:solidFill>
                <a:latin typeface="Aptos"/>
              </a:defRPr>
            </a:pPr>
            <a:r>
              <a:t>JavaScript can select nodes, read them, change them, or create new 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DE047"/>
                </a:solidFill>
                <a:latin typeface="Aptos"/>
              </a:defRPr>
            </a:pPr>
            <a:r>
              <a:t>ASK: If the HTML file stays unchanged, can the visible page still change?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DOM: find the element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492240" cy="4343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44752"/>
            <a:ext cx="6199631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HTML +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6199631" cy="3886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&lt;h1 id="title"&gt;Old title&lt;/h1&gt;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&lt;button id="changeBtn"&gt;Change&lt;/button&gt;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title = document.querySelector("#title");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button = document.querySelector("#changeBtn");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45920"/>
            <a:ext cx="3383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SELECTOR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57400"/>
            <a:ext cx="3840480" cy="320040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#title → ID selector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.card → class selector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button → tag selector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querySelector() → first match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querySelectorAll() → all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DE047"/>
                </a:solidFill>
                <a:latin typeface="Aptos"/>
              </a:defRPr>
            </a:pPr>
            <a:r>
              <a:t>TRY: What happens if the selector doesn't match any element?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DOM: listen, then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64922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81912"/>
            <a:ext cx="6199631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6199631" cy="2468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button.addEventListener("click", () =&gt; {</a:t>
            </a:r>
          </a:p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  title.textContent = "New title!";</a:t>
            </a:r>
          </a:p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  title.classList.toggle("highlight");</a:t>
            </a:r>
          </a:p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45920"/>
            <a:ext cx="30175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THE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57400"/>
            <a:ext cx="3931920" cy="320040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1. Find the button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2. Listen for a click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3. Run the callback function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4. Change text or classes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5. Browser redraws the updated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92040"/>
            <a:ext cx="100584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02352"/>
            <a:ext cx="9601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ptos"/>
              </a:defRPr>
            </a:pPr>
            <a:r>
              <a:t>SAFETY NOTE: Use textContent for plain text. Avoid inserting untrusted input with innerHTML.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DOM: create new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66928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81912"/>
            <a:ext cx="537667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5376672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const item = document.createElement("li");</a:t>
            </a:r>
          </a:p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item.textContent = "Build something";</a:t>
            </a:r>
          </a:p>
          <a:p>
            <a:pPr>
              <a:spcAft>
                <a:spcPts val="0"/>
              </a:spcAft>
              <a:defRPr sz="1600">
                <a:solidFill>
                  <a:srgbClr val="F1F5F9"/>
                </a:solidFill>
                <a:latin typeface="Cascadia Code"/>
              </a:defRPr>
            </a:pPr>
            <a:r>
              <a:t>list.appendChild(item);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3657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WHAT EACH LINE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03120"/>
            <a:ext cx="4480560" cy="274320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createElement("li") creates a list item node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textContent sets its visible text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appendChild() attaches it to the list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The DOM tree now contains the new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600" b="1">
                <a:solidFill>
                  <a:srgbClr val="FDE047"/>
                </a:solidFill>
                <a:latin typeface="Aptos"/>
              </a:defRPr>
            </a:pPr>
            <a:r>
              <a:t>MICRO-CHALLENGE: Add a second list item with a different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JSON: a portable format for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206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44752"/>
            <a:ext cx="501091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VALID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5010912" cy="37490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  "title": "Learn APIs",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  "completed": false,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  "tags": ["web", "day2"],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  "priority": 2</a:t>
            </a:r>
          </a:p>
          <a:p>
            <a:pPr>
              <a:spcAft>
                <a:spcPts val="0"/>
              </a:spcAft>
              <a:defRPr sz="1800">
                <a:solidFill>
                  <a:srgbClr val="F1F5F9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JSON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663440" cy="338328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Keys and strings use double quotes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Values can be strings, numbers, booleans, null, arrays or objects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No comments or functions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No trailing commas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JSON is text — not the same thing as a JS 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DE047"/>
                </a:solidFill>
                <a:latin typeface="Aptos"/>
              </a:defRPr>
            </a:pPr>
            <a:r>
              <a:t>PREDICT: Is { title: 'Hello' } valid JSON? Why or why not?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JSON: convert in both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4922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44752"/>
            <a:ext cx="6199631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37360"/>
            <a:ext cx="6199631" cy="393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task = { title: "Learn DOM", done: false };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text = JSON.stringify(task);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// object → JSON string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restored = JSON.parse(text);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// JSON string → JS value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console.log(restored.title);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645920"/>
            <a:ext cx="2743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39" cy="292608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stringify = turn into JSON text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parse = read JSON text into JS values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parse() throws if the text is invalid JSON</a:t>
            </a:r>
          </a:p>
          <a:p>
            <a:pPr>
              <a:spcAft>
                <a:spcPts val="8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Common uses: API responses and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ptos"/>
              </a:defRPr>
            </a:pPr>
            <a:r>
              <a:t>PAIR PROMPT: Which method would you use before storing an object as text?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INTERACTIVE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Debugging round: valid JSON or not?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SNIPPET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4709160" cy="2240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221992"/>
            <a:ext cx="441655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06424" y="2514600"/>
            <a:ext cx="4416552" cy="178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  "name": "Asha",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  "active": true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3566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472B6"/>
                </a:solidFill>
                <a:latin typeface="Aptos"/>
              </a:defRPr>
            </a:pPr>
            <a:r>
              <a:t>SNIPPET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48840"/>
            <a:ext cx="4709160" cy="2240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221992"/>
            <a:ext cx="441655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592824" y="2514600"/>
            <a:ext cx="4416552" cy="1783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  name: 'Asha',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  active: true,</a:t>
            </a:r>
          </a:p>
          <a:p>
            <a:pPr>
              <a:spcAft>
                <a:spcPts val="0"/>
              </a:spcAft>
              <a:defRPr sz="1700">
                <a:solidFill>
                  <a:srgbClr val="F1F5F9"/>
                </a:solidFill>
                <a:latin typeface="Cascadia Code"/>
              </a:defRPr>
            </a:pPr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DE047"/>
                </a:solidFill>
                <a:latin typeface="Aptos"/>
              </a:defRPr>
            </a:pPr>
            <a:r>
              <a:t>VOTE: Which snippet is valid JSON? Find every problem in the other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6EE7B7"/>
                </a:solidFill>
                <a:latin typeface="Aptos"/>
              </a:defRPr>
            </a:pPr>
            <a:r>
              <a:t>REVEAL: A is valid. B has an unquoted key, single-quoted string, and trailing comma.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CONNECT THE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Where does JSON come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057400" cy="9144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67E8F9"/>
                </a:solidFill>
                <a:latin typeface="Aptos"/>
              </a:defRPr>
            </a:pPr>
            <a:r>
              <a:t>1.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7373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0">
                <a:solidFill>
                  <a:srgbClr val="BAC7D8"/>
                </a:solidFill>
                <a:latin typeface="Aptos"/>
              </a:defRPr>
            </a:pPr>
            <a:r>
              <a:t>Browser asks a service for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057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2057400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4028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472B6"/>
                </a:solidFill>
                <a:latin typeface="Aptos"/>
              </a:defRPr>
            </a:pPr>
            <a:r>
              <a:t>2.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834640"/>
            <a:ext cx="17373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0">
                <a:solidFill>
                  <a:srgbClr val="BAC7D8"/>
                </a:solidFill>
                <a:latin typeface="Aptos"/>
              </a:defRPr>
            </a:pPr>
            <a:r>
              <a:t>Service returns a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057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057400" cy="91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24028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6EE7B7"/>
                </a:solidFill>
                <a:latin typeface="Aptos"/>
              </a:defRPr>
            </a:pPr>
            <a:r>
              <a:t>3.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834640"/>
            <a:ext cx="17373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0">
                <a:solidFill>
                  <a:srgbClr val="BAC7D8"/>
                </a:solidFill>
                <a:latin typeface="Aptos"/>
              </a:defRPr>
            </a:pPr>
            <a:r>
              <a:t>Often the response body is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28800"/>
            <a:ext cx="2057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1828800"/>
            <a:ext cx="2057400" cy="9144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700" b="1">
                <a:solidFill>
                  <a:srgbClr val="FDE047"/>
                </a:solidFill>
                <a:latin typeface="Aptos"/>
              </a:defRPr>
            </a:pPr>
            <a:r>
              <a:t>4. 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2834640"/>
            <a:ext cx="1737360" cy="868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0">
                <a:solidFill>
                  <a:srgbClr val="BAC7D8"/>
                </a:solidFill>
                <a:latin typeface="Aptos"/>
              </a:defRPr>
            </a:pPr>
            <a:r>
              <a:t>JavaScript displays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560320"/>
            <a:ext cx="4572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60320"/>
            <a:ext cx="4572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560320"/>
            <a:ext cx="4572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26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1F5F9"/>
                </a:solidFill>
                <a:latin typeface="Aptos"/>
              </a:defRPr>
            </a:pPr>
            <a:r>
              <a:t>API is the communication interface; JSON is a common data format. They are not the same thing.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400" b="1">
                <a:solidFill>
                  <a:srgbClr val="FDE047"/>
                </a:solidFill>
                <a:latin typeface="Aptos"/>
              </a:defRPr>
            </a:pPr>
            <a:r>
              <a:t>Day 2 focus: understand this flow before adding network requests to the project.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LIVE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Put it together: add a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6766560" cy="4983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07592"/>
            <a:ext cx="647395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HTML +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600200"/>
            <a:ext cx="6473952" cy="4526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&lt;input id="taskInput" placeholder="Task name"&gt;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&lt;button id="addBtn"&gt;Add&lt;/button&gt;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&lt;ul id="taskList"&gt;&lt;/ul&gt;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const input = document.querySelector("#taskInput");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const list = document.querySelector("#taskList");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document.querySelector("#addBtn")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.addEventListener("click", () =&gt; {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  const task = { title: input.value };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  const li = document.createElement("li");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  li.textContent = task.title;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  list.appendChild(li);</a:t>
            </a:r>
          </a:p>
          <a:p>
            <a:pPr>
              <a:spcAft>
                <a:spcPts val="0"/>
              </a:spcAft>
              <a:defRPr sz="1300">
                <a:solidFill>
                  <a:srgbClr val="F1F5F9"/>
                </a:solidFill>
                <a:latin typeface="Cascadia Code"/>
              </a:defRPr>
            </a:pPr>
            <a:r>
              <a:t>  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645920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ASK BEFORE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3657600" cy="329184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Which line selects the input?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Where is the object created?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Which line changes the DOM?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What happens if the input is empty?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How could we improve this?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15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FDE047"/>
                </a:solidFill>
                <a:latin typeface="Aptos"/>
              </a:defRPr>
            </a:pPr>
            <a:r>
              <a:t>FACILITATOR: Let teams predict the result before showing the browser.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4-MINUTE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Team challenge: break it, then fix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67E8F9"/>
                </a:solidFill>
                <a:latin typeface="Aptos"/>
              </a:defRPr>
            </a:pPr>
            <a:r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960120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700" b="1">
                <a:solidFill>
                  <a:srgbClr val="F1F5F9"/>
                </a:solidFill>
                <a:latin typeface="Aptos"/>
              </a:defRPr>
            </a:pPr>
            <a:r>
              <a:t>Make the task list behave like a real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9875520" cy="228600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1. Add a task from the input</a:t>
            </a:r>
          </a:p>
          <a:p>
            <a:pPr>
              <a:spcAft>
                <a:spcPts val="8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2. Mark a task as complete</a:t>
            </a:r>
          </a:p>
          <a:p>
            <a:pPr>
              <a:spcAft>
                <a:spcPts val="8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3. Delete a task</a:t>
            </a:r>
          </a:p>
          <a:p>
            <a:pPr>
              <a:spcAft>
                <a:spcPts val="8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4. Save tasks as JSON text in localStorage</a:t>
            </a:r>
          </a:p>
          <a:p>
            <a:pPr>
              <a:spcAft>
                <a:spcPts val="8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5. Bonus: add an All / Active / Completed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DE047"/>
                </a:solidFill>
                <a:latin typeface="Aptos"/>
              </a:defRPr>
            </a:pPr>
            <a:r>
              <a:t>RULE: No copying the whole solution. One person codes; one person explains.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Debugging: use evidence, not guessing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0574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67E8F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BAC7D8"/>
                </a:solidFill>
                <a:latin typeface="Aptos"/>
              </a:defRPr>
            </a:pPr>
            <a:r>
              <a:t>What exactly is broken?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97480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0574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05740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472B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6032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BAC7D8"/>
                </a:solidFill>
                <a:latin typeface="Aptos"/>
              </a:defRPr>
            </a:pPr>
            <a:r>
              <a:t>Check console +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697480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828800"/>
            <a:ext cx="20574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6EE7B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Hypothesise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BAC7D8"/>
                </a:solidFill>
                <a:latin typeface="Aptos"/>
              </a:defRPr>
            </a:pPr>
            <a:r>
              <a:t>Name one likely cause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828800"/>
            <a:ext cx="20574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05740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500" b="1">
                <a:solidFill>
                  <a:srgbClr val="FDE04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560320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17830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0">
                <a:solidFill>
                  <a:srgbClr val="BAC7D8"/>
                </a:solidFill>
                <a:latin typeface="Aptos"/>
              </a:defRPr>
            </a:pPr>
            <a:r>
              <a:t>Change one thing, 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900" b="1">
                <a:solidFill>
                  <a:srgbClr val="FDE047"/>
                </a:solidFill>
                <a:latin typeface="Aptos"/>
              </a:defRPr>
            </a:pPr>
            <a:r>
              <a:t>If the error message is unfamiliar, read it carefully. It is evidence.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CHECK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Recap: explain it without the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21945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67E8F9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554480"/>
            <a:ext cx="7498079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What happens when an event listener runs?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33472"/>
            <a:ext cx="21945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F472B6"/>
                </a:solidFill>
                <a:latin typeface="Aptos"/>
              </a:defRPr>
            </a:pPr>
            <a:r>
              <a:t>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06040"/>
            <a:ext cx="7498079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How does JS find an element and change its text?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39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1"/>
            <a:ext cx="21945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6EE7B7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57599"/>
            <a:ext cx="7498079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Why do we need stringify() and parse()?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515600" cy="74980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36592"/>
            <a:ext cx="21945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200" b="1">
                <a:solidFill>
                  <a:srgbClr val="FDE047"/>
                </a:solidFill>
                <a:latin typeface="Aptos"/>
              </a:defRPr>
            </a:pPr>
            <a:r>
              <a:t>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709160"/>
            <a:ext cx="7498079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700" b="1">
                <a:solidFill>
                  <a:srgbClr val="F1F5F9"/>
                </a:solidFill>
                <a:latin typeface="Aptos"/>
              </a:defRPr>
            </a:pPr>
            <a:r>
              <a:t>How do data and the page meet?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defRPr sz="1500" b="1">
                <a:solidFill>
                  <a:srgbClr val="FDE047"/>
                </a:solidFill>
                <a:latin typeface="Aptos"/>
              </a:defRPr>
            </a:pPr>
            <a:r>
              <a:t>TAKE 30 SECONDS: Explain one concept to your partner using your own words.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09728"/>
            <a:ext cx="5029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KEEP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ptos"/>
              </a:defRPr>
            </a:pPr>
            <a:r>
              <a:t>Tiny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502920" cy="29260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defRPr sz="1200" b="1">
                <a:solidFill>
                  <a:srgbClr val="BAC7D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37960"/>
            <a:ext cx="10789920" cy="16459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900" b="0">
                <a:solidFill>
                  <a:srgbClr val="BAC7D8"/>
                </a:solidFill>
                <a:latin typeface="Aptos"/>
              </a:defRPr>
            </a:pPr>
            <a:r>
              <a:t>DAY 2 • BUILD, BREAK, UNDERSTAND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400800" cy="4480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99032"/>
            <a:ext cx="6108192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000" b="1">
                <a:solidFill>
                  <a:srgbClr val="67E8F9"/>
                </a:solidFill>
                <a:latin typeface="Aptos"/>
              </a:defRPr>
            </a:pPr>
            <a:r>
              <a:t>REMEMBER THESE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691640"/>
            <a:ext cx="6108192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el = document.querySelector("#title");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el.textContent = "Hello";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el.classList.add("active");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json = JSON.stringify({ done: false });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const data = JSON.parse(json);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button.addEventListener("click", () =&gt; {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  console.log(data.done);</a:t>
            </a:r>
          </a:p>
          <a:p>
            <a:pPr>
              <a:spcAft>
                <a:spcPts val="0"/>
              </a:spcAft>
              <a:defRPr sz="1500">
                <a:solidFill>
                  <a:srgbClr val="F1F5F9"/>
                </a:solidFill>
                <a:latin typeface="Cascadia Code"/>
              </a:defRPr>
            </a:pPr>
            <a: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645920"/>
            <a:ext cx="3291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100" b="1">
                <a:solidFill>
                  <a:srgbClr val="67E8F9"/>
                </a:solidFill>
                <a:latin typeface="Aptos"/>
              </a:defRPr>
            </a:pPr>
            <a:r>
              <a:t>THE MENTAL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57400"/>
            <a:ext cx="3840480" cy="3108960"/>
          </a:xfrm>
          <a:prstGeom prst="rect">
            <a:avLst/>
          </a:prstGeom>
          <a:noFill/>
        </p:spPr>
        <p:txBody>
          <a:bodyPr wrap="square" rIns="73152" bIns="36576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JavaScript = logic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DOM = the browser's page tree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JSON = structured text data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Events = user interactions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Aptos"/>
              </a:defRPr>
            </a:pPr>
            <a:r>
              <a:t>Small experiments beat memorising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ptos"/>
              </a:defRPr>
            </a:pPr>
            <a:r>
              <a:t>NEXT: extend the task manager; add APIs only after this flow is clear.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