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participants to map client, API contract, and server to the café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fetch can resolve even for HTTP error statuses; response.ok must be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people up. Encourage DevTools use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teams time to fill the TODOs before showing a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01  •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7DCE6"/>
                </a:solidFill>
                <a:latin typeface="Aptos"/>
              </a:defRPr>
            </a:pPr>
            <a:r>
              <a:t>DAY 2  /  JAVASCRIPT +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315200" cy="1325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EFF4FC"/>
                </a:solidFill>
                <a:latin typeface="Aptos"/>
              </a:defRPr>
            </a:pPr>
            <a:r>
              <a:t>APIs, without</a:t>
            </a:r>
          </a:p>
          <a:p>
            <a:pPr>
              <a:spcAft>
                <a:spcPts val="600"/>
              </a:spcAft>
              <a:defRPr sz="3800" b="1">
                <a:solidFill>
                  <a:srgbClr val="EFF4FC"/>
                </a:solidFill>
                <a:latin typeface="Aptos"/>
              </a:defRPr>
            </a:pPr>
            <a:r>
              <a:t>the mystery.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6675120" cy="7315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A5B4CA"/>
                </a:solidFill>
                <a:latin typeface="Aptos"/>
              </a:defRPr>
            </a:pPr>
            <a:r>
              <a:t>Make your page talk to the outside world.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234440"/>
            <a:ext cx="2926080" cy="420624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41080" y="1645920"/>
            <a:ext cx="2103120" cy="640080"/>
          </a:xfrm>
          <a:prstGeom prst="rect">
            <a:avLst/>
          </a:prstGeom>
          <a:solidFill>
            <a:srgbClr val="1F2B42"/>
          </a:solidFill>
          <a:ln>
            <a:solidFill>
              <a:srgbClr val="4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810512"/>
            <a:ext cx="2011680" cy="29260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47DCE6"/>
                </a:solidFill>
                <a:latin typeface="Aptos"/>
              </a:defRPr>
            </a:pPr>
            <a:r>
              <a:t>YOUR PAGE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743200"/>
            <a:ext cx="2103120" cy="640080"/>
          </a:xfrm>
          <a:prstGeom prst="rect">
            <a:avLst/>
          </a:prstGeom>
          <a:solidFill>
            <a:srgbClr val="1F2B42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907792"/>
            <a:ext cx="2011680" cy="29260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69B4"/>
                </a:solidFill>
                <a:latin typeface="Aptos"/>
              </a:defRPr>
            </a:pPr>
            <a:r>
              <a:t>fetch()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41080" y="3840480"/>
            <a:ext cx="2103120" cy="640080"/>
          </a:xfrm>
          <a:prstGeom prst="rect">
            <a:avLst/>
          </a:prstGeom>
          <a:solidFill>
            <a:srgbClr val="1F2B42"/>
          </a:solidFill>
          <a:ln>
            <a:solidFill>
              <a:srgbClr val="FFC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005072"/>
            <a:ext cx="2011680" cy="29260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CF5A"/>
                </a:solidFill>
                <a:latin typeface="Aptos"/>
              </a:defRPr>
            </a:pPr>
            <a:r>
              <a:t>API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313432"/>
            <a:ext cx="54864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EFF4F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3410712"/>
            <a:ext cx="54864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EFF4F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EE6A4"/>
                </a:solidFill>
                <a:latin typeface="Aptos"/>
              </a:defRPr>
            </a:pPr>
            <a:r>
              <a:t>Explore • Inspect • Request • Handle •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By the end, you can…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02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520440" cy="356616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4650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3154680" cy="285292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Explain what an API does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Recognize endpoints and HTTP methods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Read a JSON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520440" cy="356616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4650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TRY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21992"/>
            <a:ext cx="3154680" cy="285292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Call a public API with fetch()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Inspect responses in DevTools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Handle loading and errors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00200"/>
            <a:ext cx="3520440" cy="356616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4650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21992"/>
            <a:ext cx="3154680" cy="285292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Put live data on a page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Connect UI → request → data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Debug the request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EE6A4"/>
                </a:solidFill>
                <a:latin typeface="Aptos"/>
              </a:defRPr>
            </a:pPr>
            <a:r>
              <a:t>Rule for today: follow the request and watch what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An API is a contract between programs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03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520440" cy="33832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9222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CLIENT — your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154680" cy="2670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Asks for something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Sends a request to a URL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Waits for a response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520440" cy="33832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9222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API — the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67712"/>
            <a:ext cx="3154680" cy="2670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Defines what can be requested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Defines response structure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May require permissions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520440" cy="33832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92224"/>
            <a:ext cx="315468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SERVER — the kitchen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67712"/>
            <a:ext cx="3154680" cy="2670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Processes the request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Reads or updates data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Sends a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FF4FC"/>
                </a:solidFill>
                <a:latin typeface="Aptos"/>
              </a:defRPr>
            </a:pPr>
            <a:r>
              <a:t>Café analogy: the menu is the contract; the kitchen is not your browser.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Follow one request from start to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04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148840"/>
            <a:ext cx="2057400" cy="1920240"/>
          </a:xfrm>
          <a:prstGeom prst="rect">
            <a:avLst/>
          </a:prstGeom>
          <a:solidFill>
            <a:srgbClr val="151F33"/>
          </a:solidFill>
          <a:ln>
            <a:solidFill>
              <a:srgbClr val="4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331720"/>
            <a:ext cx="45720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7DC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743200"/>
            <a:ext cx="18288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Browser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3246120"/>
            <a:ext cx="18288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A"/>
                </a:solidFill>
                <a:latin typeface="Aptos"/>
              </a:defRPr>
            </a:pPr>
            <a:r>
              <a:t>fetch(url)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43200"/>
            <a:ext cx="27432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EFF4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148840"/>
            <a:ext cx="2057400" cy="1920240"/>
          </a:xfrm>
          <a:prstGeom prst="rect">
            <a:avLst/>
          </a:prstGeom>
          <a:solidFill>
            <a:srgbClr val="151F33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331720"/>
            <a:ext cx="45720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69B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18288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46120"/>
            <a:ext cx="18288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A"/>
                </a:solidFill>
                <a:latin typeface="Aptos"/>
              </a:defRPr>
            </a:pPr>
            <a:r>
              <a:t>method + headers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743200"/>
            <a:ext cx="27432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EFF4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2148840"/>
            <a:ext cx="2057400" cy="1920240"/>
          </a:xfrm>
          <a:prstGeom prst="rect">
            <a:avLst/>
          </a:prstGeom>
          <a:solidFill>
            <a:srgbClr val="151F33"/>
          </a:solidFill>
          <a:ln>
            <a:solidFill>
              <a:srgbClr val="FFC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331720"/>
            <a:ext cx="45720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FCF5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9512" y="2743200"/>
            <a:ext cx="18288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API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3246120"/>
            <a:ext cx="18288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A"/>
                </a:solidFill>
                <a:latin typeface="Aptos"/>
              </a:defRPr>
            </a:pPr>
            <a:r>
              <a:t>checks + 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184" y="2743200"/>
            <a:ext cx="27432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EFF4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88936" y="2148840"/>
            <a:ext cx="2057400" cy="1920240"/>
          </a:xfrm>
          <a:prstGeom prst="rect">
            <a:avLst/>
          </a:prstGeom>
          <a:solidFill>
            <a:srgbClr val="151F33"/>
          </a:solidFill>
          <a:ln>
            <a:solidFill>
              <a:srgbClr val="7EE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3" y="2331720"/>
            <a:ext cx="45720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7EE6A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3" y="2743200"/>
            <a:ext cx="18288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HTTP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3246120"/>
            <a:ext cx="18288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A"/>
                </a:solidFill>
                <a:latin typeface="Aptos"/>
              </a:defRPr>
            </a:pPr>
            <a:r>
              <a:t>status + body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6336" y="2743200"/>
            <a:ext cx="27432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EFF4F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8088" y="2148840"/>
            <a:ext cx="2057400" cy="1920240"/>
          </a:xfrm>
          <a:prstGeom prst="rect">
            <a:avLst/>
          </a:prstGeom>
          <a:solidFill>
            <a:srgbClr val="151F33"/>
          </a:solidFill>
          <a:ln>
            <a:solidFill>
              <a:srgbClr val="4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7815" y="2331720"/>
            <a:ext cx="45720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7DCE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5" y="2743200"/>
            <a:ext cx="18288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Your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5" y="3246120"/>
            <a:ext cx="18288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A5B4CA"/>
                </a:solidFill>
                <a:latin typeface="Aptos"/>
              </a:defRPr>
            </a:pPr>
            <a:r>
              <a:t>render the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1060704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7EE6A4"/>
                </a:solidFill>
                <a:latin typeface="Aptos"/>
              </a:defRPr>
            </a:pPr>
            <a:r>
              <a:t>The API doesn't change your page by itself. JavaScript must use the response to update the DOM.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Four words you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05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03520" cy="16002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46504"/>
            <a:ext cx="493775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21992"/>
            <a:ext cx="4937759" cy="8869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A URL for a resource or action, e.g. /posts/1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5303520" cy="16002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93775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21992"/>
            <a:ext cx="4937759" cy="8869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What the client sends: method, headers, optional body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0440"/>
            <a:ext cx="5303520" cy="16002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666744"/>
            <a:ext cx="493775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142232"/>
            <a:ext cx="4937759" cy="8869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What comes back: status, headers, body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520440"/>
            <a:ext cx="5303520" cy="16002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66744"/>
            <a:ext cx="493775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EE6A4"/>
                </a:solidFill>
                <a:latin typeface="Aptos"/>
              </a:defRPr>
            </a:pPr>
            <a:r>
              <a:t>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42232"/>
            <a:ext cx="4937759" cy="8869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A common text format for structured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HTTP methods: what are you trying to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06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1417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48463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846320" cy="70408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FF4FC"/>
                </a:solidFill>
                <a:latin typeface="Aptos"/>
              </a:defRPr>
            </a:pPr>
            <a:r>
              <a:t>Read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1417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92224"/>
            <a:ext cx="48463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67712"/>
            <a:ext cx="4846320" cy="70408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FF4FC"/>
                </a:solidFill>
                <a:latin typeface="Aptos"/>
              </a:defRPr>
            </a:pPr>
            <a:r>
              <a:t>Create or submit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29000"/>
            <a:ext cx="5212080" cy="1417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75304"/>
            <a:ext cx="48463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PUT / 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50791"/>
            <a:ext cx="4846320" cy="70408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FF4FC"/>
                </a:solidFill>
                <a:latin typeface="Aptos"/>
              </a:defRPr>
            </a:pPr>
            <a:r>
              <a:t>Update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429000"/>
            <a:ext cx="5212080" cy="1417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575304"/>
            <a:ext cx="48463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373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50791"/>
            <a:ext cx="4846320" cy="70408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EFF4FC"/>
                </a:solidFill>
                <a:latin typeface="Aptos"/>
              </a:defRPr>
            </a:pPr>
            <a:r>
              <a:t>Remove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A5B4CA"/>
                </a:solidFill>
                <a:latin typeface="Aptos"/>
              </a:defRPr>
            </a:pPr>
            <a:r>
              <a:t>Today we start with GET: fetch data and display it. No server setup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A response has a status and a body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07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394960" cy="356616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755648"/>
            <a:ext cx="5120640" cy="3383279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HTTP/1.1 200 OK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Content-Type: application/json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"id": 1,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"title": "Build something",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"completed": false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029200" cy="356616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92224"/>
            <a:ext cx="466344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67712"/>
            <a:ext cx="4663440" cy="285292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200 = request succeeded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Content-Type describes the body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JSON body contains the data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404 = resource not found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500 = server-side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69B4"/>
                </a:solidFill>
                <a:latin typeface="Aptos"/>
              </a:defRPr>
            </a:pPr>
            <a:r>
              <a:t>Check response.ok: fetch can resolve even when the HTTP status is an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JSON is data—not JavaScript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08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20040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55648"/>
            <a:ext cx="4937760" cy="30175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7EE6A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700" b="0">
                <a:solidFill>
                  <a:srgbClr val="7EE6A4"/>
                </a:solidFill>
                <a:latin typeface="Consolas"/>
              </a:defRPr>
            </a:pPr>
            <a:r>
              <a:t>  "name": "Mira",</a:t>
            </a:r>
          </a:p>
          <a:p>
            <a:pPr>
              <a:spcAft>
                <a:spcPts val="600"/>
              </a:spcAft>
              <a:defRPr sz="1700" b="0">
                <a:solidFill>
                  <a:srgbClr val="7EE6A4"/>
                </a:solidFill>
                <a:latin typeface="Consolas"/>
              </a:defRPr>
            </a:pPr>
            <a:r>
              <a:t>  "skills": ["HTML", "JS"],</a:t>
            </a:r>
          </a:p>
          <a:p>
            <a:pPr>
              <a:spcAft>
                <a:spcPts val="600"/>
              </a:spcAft>
              <a:defRPr sz="1700" b="0">
                <a:solidFill>
                  <a:srgbClr val="7EE6A4"/>
                </a:solidFill>
                <a:latin typeface="Consolas"/>
              </a:defRPr>
            </a:pPr>
            <a:r>
              <a:t>  "active": true</a:t>
            </a:r>
          </a:p>
          <a:p>
            <a:pPr>
              <a:spcAft>
                <a:spcPts val="600"/>
              </a:spcAft>
              <a:defRPr sz="1700" b="0">
                <a:solidFill>
                  <a:srgbClr val="7EE6A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074920" cy="32004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92224"/>
            <a:ext cx="470915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67712"/>
            <a:ext cx="4709159" cy="24871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Keys and strings use double quotes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No trailing commas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No functions or comments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response.json() parses the body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47DCE6"/>
                </a:solidFill>
                <a:latin typeface="Aptos"/>
              </a:defRPr>
            </a:pPr>
            <a:r>
              <a:t>JavaScript object ≠ JSON text. Related, but not identical.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The fetch()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09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583680" cy="411480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709928"/>
            <a:ext cx="6309360" cy="3931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async function loadData() {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const response = await fetch(API_URL);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if (!response.ok) {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  throw new Error(`HTTP ${response.status}`);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const data = await response.json();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  console.log(data);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7EE6A4"/>
                </a:solidFill>
                <a:latin typeface="Consolas"/>
              </a:defRPr>
            </a:pPr>
            <a:r>
              <a:t>loadData().catch(console.error);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00200"/>
            <a:ext cx="3794760" cy="41148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46504"/>
            <a:ext cx="34290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WHAT EACH LINE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3429000" cy="34015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fetch() sends request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await waits for result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response.ok checks status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response.json() parses body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catch() surfaces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Try a public practice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10  •  API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7899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A5B4CA"/>
                </a:solidFill>
                <a:latin typeface="Aptos"/>
              </a:defRPr>
            </a:pPr>
            <a:r>
              <a:t>JSONPlaceholder is a practice REST API. It returns example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04288"/>
            <a:ext cx="10424159" cy="7315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7EE6A4"/>
                </a:solidFill>
                <a:latin typeface="Consolas"/>
              </a:defRPr>
            </a:pPr>
            <a:r>
              <a:t>https://jsonplaceholder.typicode.com/todos/1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5074920" cy="182880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538728"/>
            <a:ext cx="4800600" cy="1645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  "userId": 1,</a:t>
            </a:r>
          </a:p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  "id": 1,</a:t>
            </a:r>
          </a:p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  "title": "delectus aut autem",</a:t>
            </a:r>
          </a:p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  "completed": false</a:t>
            </a:r>
          </a:p>
          <a:p>
            <a:pPr>
              <a:spcAft>
                <a:spcPts val="600"/>
              </a:spcAft>
              <a:defRPr sz="1400" b="0">
                <a:solidFill>
                  <a:srgbClr val="7EE6A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429000"/>
            <a:ext cx="5257800" cy="18288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75304"/>
            <a:ext cx="489204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YOUR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050791"/>
            <a:ext cx="4892040" cy="11155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Open the endpoint in a browser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Find title and completed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Predict what the UI should show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From API response to the DOM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11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675120" cy="434340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664207"/>
            <a:ext cx="6400800" cy="41605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async function loadTodo()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statusEl.textContent = "Loading…";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const response = await fetch(API_URL);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if (!response.ok) throw new Error("Request failed");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const todo = await response.json();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titleEl.textContent = todo.title;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statusEl.textContent = todo.completed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  ? "Completed" : "Still to do";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} catch (error)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statusEl.textContent = "Could not load data.";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console.error(error);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554480"/>
            <a:ext cx="3749039" cy="43434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700784"/>
            <a:ext cx="3383279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WHY THIS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76272"/>
            <a:ext cx="3383279" cy="36301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Show a loading state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Request the data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Use response fields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Update DOM text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Display an error if needed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When it breaks, debug in this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12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10652760" cy="658368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19"/>
            <a:ext cx="3657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7DC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18488"/>
            <a:ext cx="18288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27631"/>
            <a:ext cx="768096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A"/>
                </a:solidFill>
                <a:latin typeface="Aptos"/>
              </a:defRPr>
            </a:pPr>
            <a:r>
              <a:t>Did request happen? What status?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31720"/>
            <a:ext cx="10652760" cy="658368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68879"/>
            <a:ext cx="3657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69B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18288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450591"/>
            <a:ext cx="768096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A"/>
                </a:solidFill>
                <a:latin typeface="Aptos"/>
              </a:defRPr>
            </a:pPr>
            <a:r>
              <a:t>Any error or rejected promise?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154680"/>
            <a:ext cx="10652760" cy="658368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3657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CF5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64408"/>
            <a:ext cx="18288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273552"/>
            <a:ext cx="768096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A"/>
                </a:solidFill>
                <a:latin typeface="Aptos"/>
              </a:defRPr>
            </a:pPr>
            <a:r>
              <a:t>Does JSON contain the field you expect?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10652760" cy="658368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3657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7EE6A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87368"/>
            <a:ext cx="18288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Selector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096511"/>
            <a:ext cx="768096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A"/>
                </a:solidFill>
                <a:latin typeface="Aptos"/>
              </a:defRPr>
            </a:pPr>
            <a:r>
              <a:t>Does #title exist in the HTML?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00600"/>
            <a:ext cx="10652760" cy="658368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37760"/>
            <a:ext cx="36576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737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10328"/>
            <a:ext cx="1828800" cy="32004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Timing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919472"/>
            <a:ext cx="768096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A5B4CA"/>
                </a:solidFill>
                <a:latin typeface="Aptos"/>
              </a:defRPr>
            </a:pPr>
            <a:r>
              <a:t>Do you render after data arrives?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EE6A4"/>
                </a:solidFill>
                <a:latin typeface="Aptos"/>
              </a:defRPr>
            </a:pPr>
            <a:r>
              <a:t>Use DevTools → Console and Network. Read the error before changing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One safety rule: API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13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66360" cy="34290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EE6A4"/>
                </a:solidFill>
                <a:latin typeface="Aptos"/>
              </a:defRPr>
            </a:pPr>
            <a:r>
              <a:t>SAFE TO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800600" cy="27157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Public demo endpoints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Public data with no secret credentials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Requests that expose no personal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166360" cy="342900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7373"/>
                </a:solidFill>
                <a:latin typeface="Aptos"/>
              </a:defRPr>
            </a:pPr>
            <a:r>
              <a:t>NEVER DO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67712"/>
            <a:ext cx="4800600" cy="271576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Put private keys in frontend JS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Commit secrets to public GitHub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Assume CORS means the API is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51560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FFCF5A"/>
                </a:solidFill>
                <a:latin typeface="Aptos"/>
              </a:defRPr>
            </a:pPr>
            <a:r>
              <a:t>Frontend code is visible to users. Secret keys belong in a secure server-side environment.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Team challenge: build a live data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14  •  API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EFF4FC"/>
                </a:solidFill>
                <a:latin typeface="Aptos"/>
              </a:defRPr>
            </a:pPr>
            <a:r>
              <a:t>In pairs, load one todo from the API and display its title +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5166360" cy="2560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8658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MUST 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4800600" cy="184708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 Load button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 loading message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Title + completed status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An error message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240280"/>
            <a:ext cx="5166360" cy="256032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8658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BONUS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862072"/>
            <a:ext cx="4800600" cy="184708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Load a different todo ID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Add a retry button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Style completed vs active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Explain one bug you fixed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166360"/>
            <a:ext cx="10515600" cy="594360"/>
          </a:xfrm>
          <a:prstGeom prst="rect">
            <a:avLst/>
          </a:prstGeom>
          <a:solidFill>
            <a:srgbClr val="202F41"/>
          </a:solidFill>
          <a:ln>
            <a:solidFill>
              <a:srgbClr val="FFC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321808"/>
            <a:ext cx="10149840" cy="2743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FFCF5A"/>
                </a:solidFill>
                <a:latin typeface="Aptos"/>
              </a:defRPr>
            </a:pPr>
            <a:r>
              <a:t>12 minutes to build • 60 seconds to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Starter scaffold: fill in the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15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6583680" cy="4206240"/>
          </a:xfrm>
          <a:prstGeom prst="rect">
            <a:avLst/>
          </a:prstGeom>
          <a:solidFill>
            <a:srgbClr val="070C17"/>
          </a:solidFill>
          <a:ln>
            <a:solidFill>
              <a:srgbClr val="2D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09928"/>
            <a:ext cx="6309360" cy="4023359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button.addEventListener("click", async () =&gt;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title.textContent = "Loading…";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status.textContent = "";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const response = await fetch(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  "https://jsonplaceholder.typicode.com/todos/1"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// TODO 1: check response.ok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// TODO 2: parse JSON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// TODO 3: show title + status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} catch (error) {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  // TODO 4: show a helpful error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300" b="0">
                <a:solidFill>
                  <a:srgbClr val="7EE6A4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600200"/>
            <a:ext cx="3794760" cy="420624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19" y="1746504"/>
            <a:ext cx="34290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YOUR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221992"/>
            <a:ext cx="3429000" cy="3493007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Keep the event listener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Use await for response + JSON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Update the DOM with textContent</a:t>
            </a:r>
          </a:p>
          <a:p>
            <a:pPr>
              <a:spcAft>
                <a:spcPts val="600"/>
              </a:spcAft>
              <a:defRPr sz="1500" b="0">
                <a:solidFill>
                  <a:srgbClr val="EFF4FC"/>
                </a:solidFill>
                <a:latin typeface="Aptos"/>
              </a:defRPr>
            </a:pPr>
            <a:r>
              <a:t>• Test the error path if time allows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Quick check: answer before you reveal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16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212080" cy="1554480"/>
          </a:xfrm>
          <a:prstGeom prst="rect">
            <a:avLst/>
          </a:prstGeom>
          <a:solidFill>
            <a:srgbClr val="151F33"/>
          </a:solidFill>
          <a:ln>
            <a:solidFill>
              <a:srgbClr val="4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84632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1. Which method usually reads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0008"/>
            <a:ext cx="48463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47DCE6"/>
                </a:solidFill>
                <a:latin typeface="Aptos"/>
              </a:defRPr>
            </a:pPr>
            <a:r>
              <a:t>Answer: 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600200"/>
            <a:ext cx="5212080" cy="1554480"/>
          </a:xfrm>
          <a:prstGeom prst="rect">
            <a:avLst/>
          </a:prstGeom>
          <a:solidFill>
            <a:srgbClr val="151F33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64792"/>
            <a:ext cx="484632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2. What parses a JSON response body?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50008"/>
            <a:ext cx="48463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69B4"/>
                </a:solidFill>
                <a:latin typeface="Aptos"/>
              </a:defRPr>
            </a:pPr>
            <a:r>
              <a:t>Answer: response.json()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5212080" cy="1554480"/>
          </a:xfrm>
          <a:prstGeom prst="rect">
            <a:avLst/>
          </a:prstGeom>
          <a:solidFill>
            <a:srgbClr val="151F33"/>
          </a:solidFill>
          <a:ln>
            <a:solidFill>
              <a:srgbClr val="FFCF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85032"/>
            <a:ext cx="484632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3. What should you check before rendering?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48463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FCF5A"/>
                </a:solidFill>
                <a:latin typeface="Aptos"/>
              </a:defRPr>
            </a:pPr>
            <a:r>
              <a:t>Answer: response.ok / HTTP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520440"/>
            <a:ext cx="5212080" cy="1554480"/>
          </a:xfrm>
          <a:prstGeom prst="rect">
            <a:avLst/>
          </a:prstGeom>
          <a:solidFill>
            <a:srgbClr val="151F33"/>
          </a:solidFill>
          <a:ln>
            <a:solidFill>
              <a:srgbClr val="7EE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85032"/>
            <a:ext cx="484632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EFF4FC"/>
                </a:solidFill>
                <a:latin typeface="Aptos"/>
              </a:defRPr>
            </a:pPr>
            <a:r>
              <a:t>4. Where should a private API key live?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70248"/>
            <a:ext cx="484632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EE6A4"/>
                </a:solidFill>
                <a:latin typeface="Aptos"/>
              </a:defRPr>
            </a:pPr>
            <a:r>
              <a:t>Answer: Secure backend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The mental model to keep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17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698480" cy="960120"/>
          </a:xfrm>
          <a:prstGeom prst="rect">
            <a:avLst/>
          </a:prstGeom>
          <a:solidFill>
            <a:srgbClr val="182B3C"/>
          </a:solidFill>
          <a:ln>
            <a:solidFill>
              <a:srgbClr val="47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47DCE6"/>
                </a:solidFill>
                <a:latin typeface="Aptos"/>
              </a:defRPr>
            </a:pPr>
            <a:r>
              <a:t>USER ACTION → fetch() → HTTP RESPONSE → JSON → DOM UPDATE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3383280" cy="20116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9544"/>
            <a:ext cx="30175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85032"/>
            <a:ext cx="3017520" cy="12984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URL + 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063240"/>
            <a:ext cx="3383280" cy="20116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209544"/>
            <a:ext cx="30175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CF5A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85032"/>
            <a:ext cx="3017520" cy="12984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status + body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063240"/>
            <a:ext cx="3383280" cy="201168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209544"/>
            <a:ext cx="301752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7EE6A4"/>
                </a:solidFill>
                <a:latin typeface="Aptos"/>
              </a:defRPr>
            </a:pPr>
            <a:r>
              <a:t>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85032"/>
            <a:ext cx="3017520" cy="12984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loading + success +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241280" cy="3657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EFF4FC"/>
                </a:solidFill>
                <a:latin typeface="Aptos"/>
              </a:defRPr>
            </a:pPr>
            <a:r>
              <a:t>APIs turn a static page into a page that can request live information.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4572000" cy="256032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47DCE6"/>
                </a:solidFill>
                <a:latin typeface="Aptos"/>
              </a:defRPr>
            </a:pPr>
            <a:r>
              <a:t>WEB LAB  /  API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EFF4FC"/>
                </a:solidFill>
                <a:latin typeface="Aptos"/>
              </a:defRPr>
            </a:pPr>
            <a:r>
              <a:t>After the workshop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14400" cy="45720"/>
          </a:xfrm>
          <a:prstGeom prst="rect">
            <a:avLst/>
          </a:prstGeom>
          <a:solidFill>
            <a:srgbClr val="47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510528"/>
            <a:ext cx="914400" cy="18288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A5B4CA"/>
                </a:solidFill>
                <a:latin typeface="Aptos"/>
              </a:defRPr>
            </a:pPr>
            <a:r>
              <a:t>18  •  API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66360" cy="329184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47DCE6"/>
                </a:solidFill>
                <a:latin typeface="Aptos"/>
              </a:defRPr>
            </a:pPr>
            <a:r>
              <a:t>LEVEL 1 —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4800600" cy="257860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Change endpoint and inspect fields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Display 5 todos instead of 1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Add a loading spinner and retry button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45920"/>
            <a:ext cx="5166360" cy="3291840"/>
          </a:xfrm>
          <a:prstGeom prst="rect">
            <a:avLst/>
          </a:prstGeom>
          <a:solidFill>
            <a:srgbClr val="15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92224"/>
            <a:ext cx="4800600" cy="38404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69B4"/>
                </a:solidFill>
                <a:latin typeface="Aptos"/>
              </a:defRPr>
            </a:pPr>
            <a:r>
              <a:t>LEVEL 2 — EXTEND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67712"/>
            <a:ext cx="4800600" cy="2578608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Search or filter returned data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Learn query parameters</a:t>
            </a:r>
          </a:p>
          <a:p>
            <a:pPr>
              <a:spcAft>
                <a:spcPts val="600"/>
              </a:spcAft>
              <a:defRPr sz="1600" b="0">
                <a:solidFill>
                  <a:srgbClr val="EFF4FC"/>
                </a:solidFill>
                <a:latin typeface="Aptos"/>
              </a:defRPr>
            </a:pPr>
            <a:r>
              <a:t>• Explore POST with a practice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40680"/>
            <a:ext cx="10424160" cy="502920"/>
          </a:xfrm>
          <a:prstGeom prst="rect">
            <a:avLst/>
          </a:prstGeom>
          <a:noFill/>
        </p:spPr>
        <p:txBody>
          <a:bodyPr wrap="square" tIns="54864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7EE6A4"/>
                </a:solidFill>
                <a:latin typeface="Aptos"/>
              </a:defRPr>
            </a:pPr>
            <a:r>
              <a:t>Build a small thing, break it, inspect evidence, fix one issue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